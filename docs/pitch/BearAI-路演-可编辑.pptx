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0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05840" cy="10058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EEF2FB"/>
                </a:solidFill>
                <a:latin typeface="Microsoft YaHei"/>
              </a:rPr>
              <a:t>从「能生成」</a:t>
            </a:r>
            <a:r>
              <a:rPr sz="5600" b="1" i="0">
                <a:solidFill>
                  <a:srgbClr val="22D3EE"/>
                </a:solidFill>
                <a:latin typeface="Microsoft YaHei"/>
              </a:rPr>
              <a:t>到「敢交付」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AEB9D4"/>
                </a:solidFill>
                <a:latin typeface="Microsoft YaHei"/>
              </a:rPr>
              <a:t>BearAI · 全链路 AI 软件研发平台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2066543" cy="45720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一句话 → 可交付应用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2383" y="5120640"/>
            <a:ext cx="1335024" cy="45720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四道质量兜底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7" y="5120640"/>
            <a:ext cx="2505456" cy="45720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可信 · 可追溯 · 可管控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3595" y="265176"/>
            <a:ext cx="2468880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企业引入 AI 开发的三大痛点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AI 直接从一句话跳到代码，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中间的一切全靠猜</a:t>
            </a:r>
          </a:p>
        </p:txBody>
      </p:sp>
      <p:pic>
        <p:nvPicPr>
          <p:cNvPr id="8" name="Picture 7" descr="svg-fra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74519"/>
            <a:ext cx="7772400" cy="19362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3977639"/>
            <a:ext cx="3566160" cy="169164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356616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160519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B7185"/>
                </a:solidFill>
                <a:latin typeface="Microsoft YaHei"/>
              </a:rPr>
              <a:t>痛点一 · 可信度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EF2FB"/>
                </a:solidFill>
                <a:latin typeface="Microsoft YaHei"/>
              </a:rPr>
              <a:t>AI 会「幻觉」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凭空造出没人要的功能，企业不敢直接信。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977639"/>
            <a:ext cx="3566160" cy="169164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3977639"/>
            <a:ext cx="356616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4160519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B7185"/>
                </a:solidFill>
                <a:latin typeface="Microsoft YaHei"/>
              </a:rPr>
              <a:t>痛点二 · 一致性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EF2FB"/>
                </a:solidFill>
                <a:latin typeface="Microsoft YaHei"/>
              </a:rPr>
              <a:t>需求到代码全程割裂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需求、开发、测试三份理解，没人说得清。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977639"/>
            <a:ext cx="3566160" cy="169164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977639"/>
            <a:ext cx="356616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4160519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B7185"/>
                </a:solidFill>
                <a:latin typeface="Microsoft YaHei"/>
              </a:rPr>
              <a:t>痛点三 · 可控性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EF2FB"/>
                </a:solidFill>
                <a:latin typeface="Microsoft YaHei"/>
              </a:rPr>
              <a:t>能力越用越多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谁在什么时候用了什么，管不住、追不回。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生成得再快，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也没人敢直接上生产。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6032"/>
            <a:ext cx="3364992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痛点场景实录 · 不是概念，是真实会发生的事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三个场景，看 AI 开发 </a:t>
            </a:r>
            <a:r>
              <a:rPr sz="3400" b="1" i="0">
                <a:solidFill>
                  <a:srgbClr val="22D3EE"/>
                </a:solidFill>
                <a:latin typeface="Microsoft YaHei"/>
              </a:rPr>
              <a:t>如何「翻车」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611880" cy="3931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1005840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B7185"/>
                </a:solidFill>
                <a:latin typeface="Microsoft YaHei"/>
              </a:rPr>
              <a:t>① 幻觉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EEF2FB"/>
                </a:solidFill>
                <a:latin typeface="Microsoft YaHei"/>
              </a:rPr>
              <a:t>「做一个客户反馈管理系统。」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AI 顺手加了个「客户满意度评分」——因为它「觉得」该有。你没提过，但代码和界面都做好了。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B7185"/>
                </a:solidFill>
                <a:latin typeface="Microsoft YaHei"/>
              </a:rPr>
              <a:t>⚠ 一路带到上线，占资源、还可能违规收集数据，返工成本极高。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920240"/>
            <a:ext cx="3611880" cy="3931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36592" y="2148840"/>
            <a:ext cx="1005840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BBF24"/>
                </a:solidFill>
                <a:latin typeface="Microsoft YaHei"/>
              </a:rPr>
              <a:t>② 割裂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EEF2FB"/>
                </a:solidFill>
                <a:latin typeface="Microsoft YaHei"/>
              </a:rPr>
              <a:t>需求 → 开发 → 测试，三份理解。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33756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产品写文档、开发按自己理解写代码、测试拿文档写用例。三周后上线，「超时提醒规则」和最初提的不一样。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5120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B7185"/>
                </a:solidFill>
                <a:latin typeface="Microsoft YaHei"/>
              </a:rPr>
              <a:t>⚠ 排查责任比修 bug 还久，系统越大越滚越乱。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75904" y="1920240"/>
            <a:ext cx="3611880" cy="3931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04504" y="2148840"/>
            <a:ext cx="1005840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D8B4FE"/>
                </a:solidFill>
                <a:latin typeface="Microsoft YaHei"/>
              </a:rPr>
              <a:t>③ 失控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1">
                <a:solidFill>
                  <a:srgbClr val="EEF2FB"/>
                </a:solidFill>
                <a:latin typeface="Microsoft YaHei"/>
              </a:rPr>
              <a:t>AI 被配了「直接部署到生产」。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333756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新同事顺手勾选了「AI 部署执行」去做别的事，AI 真把一个没测完的版本部署上线了。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51206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B7185"/>
                </a:solidFill>
                <a:latin typeface="Microsoft YaHei"/>
              </a:rPr>
              <a:t>⚠ 回头查谁触发的、为什么，没人说得清——防不住、追不回。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254654"/>
            <a:ext cx="1700784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痛点与机制一一对应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每个痛点，都有 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平台内置的真机制</a:t>
            </a:r>
            <a:r>
              <a:rPr sz="3400" b="1" i="0">
                <a:solidFill>
                  <a:srgbClr val="EEF2FB"/>
                </a:solidFill>
                <a:latin typeface="Microsoft YaHei"/>
              </a:rPr>
              <a:t>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D8AB0"/>
                </a:solidFill>
                <a:latin typeface="Microsoft YaHei"/>
              </a:rPr>
              <a:t>核心痛点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D8AB0"/>
                </a:solidFill>
                <a:latin typeface="Microsoft YaHei"/>
              </a:rPr>
              <a:t>BearAI 对应机制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D8AB0"/>
                </a:solidFill>
                <a:latin typeface="Microsoft YaHei"/>
              </a:rPr>
              <a:t>产生的效果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881360" cy="11430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B7185"/>
                </a:solidFill>
                <a:latin typeface="Microsoft YaHei"/>
              </a:rPr>
              <a:t>AI 会「幻觉」/ 企业不敢直接信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5176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AEB9D4"/>
                </a:solidFill>
                <a:latin typeface="Microsoft YaHei"/>
              </a:rPr>
              <a:t>需求逐条「接受 / 不接受」
人工确认后才进入基线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5176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34D399"/>
                </a:solidFill>
                <a:latin typeface="Microsoft YaHei"/>
              </a:rPr>
              <a:t>杜绝凭空新增的「幻觉需求」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76472"/>
            <a:ext cx="10881360" cy="11430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59352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B7185"/>
                </a:solidFill>
                <a:latin typeface="Microsoft YaHei"/>
              </a:rPr>
              <a:t>需求到代码 / 全程割裂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959352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AEB9D4"/>
                </a:solidFill>
                <a:latin typeface="Microsoft YaHei"/>
              </a:rPr>
              <a:t>需求 → 功能 → 测试
自动生成追踪矩阵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959352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34D399"/>
                </a:solidFill>
                <a:latin typeface="Microsoft YaHei"/>
              </a:rPr>
              <a:t>改动可追溯，责任说得清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84064"/>
            <a:ext cx="10881360" cy="11430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66944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B7185"/>
                </a:solidFill>
                <a:latin typeface="Microsoft YaHei"/>
              </a:rPr>
              <a:t>能力越用越多 / 谁用什么管不住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66944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AEB9D4"/>
                </a:solidFill>
                <a:latin typeface="Microsoft YaHei"/>
              </a:rPr>
              <a:t>能力风险分级（low/medium/high）
+ 审核门禁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266944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34D399"/>
                </a:solidFill>
                <a:latin typeface="Microsoft YaHei"/>
              </a:rPr>
              <a:t>高风险动作必须审核通过才能用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可信 · 可追溯 · 可管控 —— 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不是概念，是内置机制。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"/>
            <a:ext cx="1188720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我们的解法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把 AI 装进一条 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「可验收」的研发链路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AEB9D4"/>
                </a:solidFill>
                <a:latin typeface="Microsoft YaHei"/>
              </a:rPr>
              <a:t>不让它跳步。每一步产出结构化、可验收的产物，再作为下一步的可信输入。</a:t>
            </a:r>
          </a:p>
        </p:txBody>
      </p:sp>
      <p:pic>
        <p:nvPicPr>
          <p:cNvPr id="9" name="Picture 8" descr="svg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3200"/>
            <a:ext cx="10058400" cy="2064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选择「一句话生成应用」，平台自动串联全链路，产物层层递进、可追溯。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1898"/>
            <a:ext cx="4005072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核心差异 · 护城河 · 可信 / 可追溯 / 可管控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四道防线，让 AI 产物 </a:t>
            </a:r>
            <a:r>
              <a:rPr sz="3400" b="1" i="0">
                <a:solidFill>
                  <a:srgbClr val="22D3EE"/>
                </a:solidFill>
                <a:latin typeface="Microsoft YaHei"/>
              </a:rPr>
              <a:t>「敢用」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97480" cy="30175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69748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EEF2FB"/>
                </a:solidFill>
                <a:latin typeface="Microsoft YaHei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EF2FB"/>
                </a:solidFill>
                <a:latin typeface="Microsoft YaHei"/>
              </a:rPr>
              <a:t>需求澄清兜底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需求逐条接受 / 不接受，你不接受的绝不进实现。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6FF"/>
                </a:solidFill>
                <a:latin typeface="Microsoft YaHei"/>
              </a:rPr>
              <a:t>防跳步 · 防幻觉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194560"/>
            <a:ext cx="2697480" cy="30175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38728" y="2194560"/>
            <a:ext cx="269748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24688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EEF2FB"/>
                </a:solidFill>
                <a:latin typeface="Microsoft YaHei"/>
              </a:rPr>
              <a:t>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EF2FB"/>
                </a:solidFill>
                <a:latin typeface="Microsoft YaHei"/>
              </a:rPr>
              <a:t>上下文基线兜底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6576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每阶段产物固化为基线，下阶段强制读基线。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6FF"/>
                </a:solidFill>
                <a:latin typeface="Microsoft YaHei"/>
              </a:rPr>
              <a:t>防失真 · 防串味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194560"/>
            <a:ext cx="2697480" cy="30175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37376" y="2194560"/>
            <a:ext cx="269748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6" y="24688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EEF2FB"/>
                </a:solidFill>
                <a:latin typeface="Microsoft YaHei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EF2FB"/>
                </a:solidFill>
                <a:latin typeface="Microsoft YaHei"/>
              </a:rPr>
              <a:t>测试前置兜底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36576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写代码前就生成测试矩阵与原子测试点。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6FF"/>
                </a:solidFill>
                <a:latin typeface="Microsoft YaHei"/>
              </a:rPr>
              <a:t>防实现前漏洞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6024" y="2194560"/>
            <a:ext cx="2697480" cy="30175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36024" y="2194560"/>
            <a:ext cx="269748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64624" y="24688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EEF2FB"/>
                </a:solidFill>
                <a:latin typeface="Microsoft YaHe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4624" y="3154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EF2FB"/>
                </a:solidFill>
                <a:latin typeface="Microsoft YaHei"/>
              </a:rPr>
              <a:t>全链路追溯兜底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36576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EB9D4"/>
                </a:solidFill>
                <a:latin typeface="Microsoft YaHei"/>
              </a:rPr>
              <a:t>产物全程沉淀，失败可精确定位、单点修正。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4709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6FF"/>
                </a:solidFill>
                <a:latin typeface="Microsoft YaHei"/>
              </a:rPr>
              <a:t>防黑盒 · 可审计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别人交付「AI 生成的代码」，我们交付 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经过验收、可追溯的研发资产。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6032"/>
            <a:ext cx="3364992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不是空壳 · 平台内置的官方 AI 能力体系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1 个总控 + 5 个场景 Agent + 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10 大官方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749039" cy="777240"/>
          </a:xfrm>
          <a:prstGeom prst="roundRect">
            <a:avLst/>
          </a:prstGeom>
          <a:solidFill>
            <a:srgbClr val="2A2455"/>
          </a:solidFill>
          <a:ln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🧠 全链路总控 Agent</a:t>
            </a:r>
          </a:p>
          <a:p>
            <a:pPr algn="ctr"/>
            <a:r>
              <a:rPr sz="1200" b="0" i="0">
                <a:solidFill>
                  <a:srgbClr val="C3CFF0"/>
                </a:solidFill>
                <a:latin typeface="Microsoft YaHei"/>
              </a:rPr>
              <a:t>统一调度 · 决定走多深的链路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2103120" cy="9601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EEAD4"/>
                </a:solidFill>
                <a:latin typeface="Microsoft YaHei"/>
              </a:rPr>
              <a:t>场景①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EEF2FB"/>
                </a:solidFill>
                <a:latin typeface="Microsoft YaHei"/>
              </a:rPr>
              <a:t>一句话
生成应用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2971800"/>
            <a:ext cx="2103120" cy="9601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30906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EEAD4"/>
                </a:solidFill>
                <a:latin typeface="Microsoft YaHei"/>
              </a:rPr>
              <a:t>场景②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335584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EEF2FB"/>
                </a:solidFill>
                <a:latin typeface="Microsoft YaHei"/>
              </a:rPr>
              <a:t>一句话
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971800"/>
            <a:ext cx="2103120" cy="9601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30906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EEAD4"/>
                </a:solidFill>
                <a:latin typeface="Microsoft YaHei"/>
              </a:rPr>
              <a:t>场景③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335584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EEF2FB"/>
                </a:solidFill>
                <a:latin typeface="Microsoft YaHei"/>
              </a:rPr>
              <a:t>从需求
澄清开始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2971800"/>
            <a:ext cx="2103120" cy="9601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43216" y="30906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EEAD4"/>
                </a:solidFill>
                <a:latin typeface="Microsoft YaHei"/>
              </a:rPr>
              <a:t>场景④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335584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EEF2FB"/>
                </a:solidFill>
                <a:latin typeface="Microsoft YaHei"/>
              </a:rPr>
              <a:t>已有
原型图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2971800"/>
            <a:ext cx="2103120" cy="9601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10928" y="30906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5EEAD4"/>
                </a:solidFill>
                <a:latin typeface="Microsoft YaHei"/>
              </a:rPr>
              <a:t>场景⑤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35584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EEF2FB"/>
                </a:solidFill>
                <a:latin typeface="Microsoft YaHei"/>
              </a:rPr>
              <a:t>对话
探索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1. 项目源头标准化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2" y="425196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4251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2. 项目澄清打磨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75504" y="425196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12664" y="4251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3. 需求源头标准化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43216" y="425196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0376" y="4251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4. 需求澄清打磨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425196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48088" y="425196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5. 基线需求分析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6. 业务逻辑分析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07792" y="489204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44952" y="4892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7. 项目原型设计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75504" y="489204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12664" y="4892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8. 测试分析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3216" y="489204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0376" y="4892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9. 自动化测试用例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4892040"/>
            <a:ext cx="2103120" cy="50292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48088" y="48920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AEB9D4"/>
                </a:solidFill>
                <a:latin typeface="Microsoft YaHei"/>
              </a:rPr>
              <a:t>10. 项目产品实现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从想法到上线，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每一步都有官方能力兜底</a:t>
            </a:r>
            <a:r>
              <a:rPr sz="1700" b="1" i="0">
                <a:solidFill>
                  <a:srgbClr val="AEB9D4"/>
                </a:solidFill>
                <a:latin typeface="Microsoft YaHei"/>
              </a:rPr>
              <a:t>，不是靠模型即兴发挥。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3686" y="265176"/>
            <a:ext cx="1060704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组织现状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AI 已能做每个岗位的活，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企业却离不开每个岗位的人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📋 产品经理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599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599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🧩 需求分析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599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18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8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💻 开发工程师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8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37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37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🧪 测试工程师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7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6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6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⚙️ 运维部署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6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75" y="2468880"/>
            <a:ext cx="1737360" cy="82296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75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EF2FB"/>
                </a:solidFill>
                <a:latin typeface="Microsoft YaHei"/>
              </a:rPr>
              <a:t>🚀 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75" y="29077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D3EE"/>
                </a:solidFill>
                <a:latin typeface="Microsoft YaHei"/>
              </a:rPr>
              <a:t>🤖 AI 都能做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EF2FB"/>
                </a:solidFill>
                <a:latin typeface="Microsoft YaHei"/>
              </a:rPr>
              <a:t>AI 干得了活，却 </a:t>
            </a:r>
            <a:r>
              <a:rPr sz="2600" b="1" i="0">
                <a:solidFill>
                  <a:srgbClr val="22D3EE"/>
                </a:solidFill>
                <a:latin typeface="Microsoft YaHei"/>
              </a:rPr>
              <a:t>担不了责</a:t>
            </a:r>
            <a:r>
              <a:rPr sz="2600" b="1" i="0">
                <a:solidFill>
                  <a:srgbClr val="EEF2FB"/>
                </a:solidFill>
                <a:latin typeface="Microsoft YaHei"/>
              </a:rPr>
              <a:t> —— 缺的是让专业的人为 AI 把关的机制。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0784" y="256032"/>
            <a:ext cx="1956816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三种模式 · 三种结局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同样交付一个软件，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哪种才敢规模化？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611880" cy="38862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1554480" cy="384048"/>
          </a:xfrm>
          <a:prstGeom prst="roundRect">
            <a:avLst/>
          </a:prstGeom>
          <a:solidFill>
            <a:srgbClr val="16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B7185"/>
                </a:solidFill>
                <a:latin typeface="Microsoft YaHei"/>
              </a:rPr>
              <a:t>① 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EF2FB"/>
                </a:solidFill>
                <a:latin typeface="Microsoft YaHei"/>
              </a:rPr>
              <a:t>各岗位分散用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AEB9D4"/>
                </a:solidFill>
                <a:latin typeface="Microsoft YaHei"/>
              </a:rPr>
              <a:t>产品用 AI 写需求
开发用 AI 写代码
测试用 AI 写用例
…各干各的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Microsoft YaHei"/>
              </a:rPr>
              <a:t>😰 产物割裂 · 无人对全局负责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965960"/>
            <a:ext cx="3611880" cy="38862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36592" y="2194560"/>
            <a:ext cx="1554480" cy="384048"/>
          </a:xfrm>
          <a:prstGeom prst="roundRect">
            <a:avLst/>
          </a:prstGeom>
          <a:solidFill>
            <a:srgbClr val="16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BBF24"/>
                </a:solidFill>
                <a:latin typeface="Microsoft YaHei"/>
              </a:rPr>
              <a:t>② 当红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432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EF2FB"/>
                </a:solidFill>
                <a:latin typeface="Microsoft YaHei"/>
              </a:rPr>
              <a:t>FDE 一人全包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337560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AEB9D4"/>
                </a:solidFill>
                <a:latin typeface="Microsoft YaHei"/>
              </a:rPr>
              <a:t>一个「前向部署工程师」
独自借助 AI 完成：
需求→开发→测试→交付
无 bug 可交付软件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51663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Microsoft YaHei"/>
              </a:rPr>
              <a:t>⚠ 依赖个人 · 难复制 · 不可规模化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75904" y="1965960"/>
            <a:ext cx="3611880" cy="3886200"/>
          </a:xfrm>
          <a:prstGeom prst="roundRect">
            <a:avLst/>
          </a:prstGeom>
          <a:solidFill>
            <a:srgbClr val="172042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75904" y="1965960"/>
            <a:ext cx="3611880" cy="381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04504" y="2194560"/>
            <a:ext cx="1554480" cy="384048"/>
          </a:xfrm>
          <a:prstGeom prst="roundRect">
            <a:avLst/>
          </a:prstGeom>
          <a:solidFill>
            <a:srgbClr val="16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Microsoft YaHei"/>
              </a:rPr>
              <a:t>③ 我们的答案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5069" y="2743200"/>
            <a:ext cx="336323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 err="1">
                <a:solidFill>
                  <a:srgbClr val="EEF2FB"/>
                </a:solidFill>
                <a:latin typeface="Microsoft YaHei"/>
              </a:rPr>
              <a:t>资深员工</a:t>
            </a:r>
            <a:r>
              <a:rPr sz="1900" b="1" i="0" dirty="0">
                <a:solidFill>
                  <a:srgbClr val="EEF2FB"/>
                </a:solidFill>
                <a:latin typeface="Microsoft YaHei"/>
              </a:rPr>
              <a:t> + </a:t>
            </a:r>
            <a:r>
              <a:rPr sz="1900" b="1" i="0" dirty="0" err="1">
                <a:solidFill>
                  <a:srgbClr val="EEF2FB"/>
                </a:solidFill>
                <a:latin typeface="Microsoft YaHei"/>
              </a:rPr>
              <a:t>BearAI</a:t>
            </a:r>
            <a:r>
              <a:rPr lang="en-US" sz="1900" b="1" i="0" dirty="0">
                <a:solidFill>
                  <a:srgbClr val="EEF2FB"/>
                </a:solidFill>
                <a:latin typeface="Microsoft YaHei"/>
              </a:rPr>
              <a:t> &gt; N * FDE</a:t>
            </a:r>
            <a:endParaRPr sz="1900" b="1" i="0" dirty="0">
              <a:solidFill>
                <a:srgbClr val="EEF2FB"/>
              </a:solidFill>
              <a:latin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4504" y="3337560"/>
            <a:ext cx="3154680" cy="964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 dirty="0" err="1">
                <a:solidFill>
                  <a:srgbClr val="AEB9D4"/>
                </a:solidFill>
                <a:latin typeface="Microsoft YaHei"/>
              </a:rPr>
              <a:t>每个关键节点产物</a:t>
            </a:r>
            <a:r>
              <a:rPr sz="1450" b="0" i="0" dirty="0">
                <a:solidFill>
                  <a:srgbClr val="AEB9D4"/>
                </a:solidFill>
                <a:latin typeface="Microsoft YaHei"/>
              </a:rPr>
              <a:t>
</a:t>
            </a:r>
            <a:r>
              <a:rPr sz="1450" b="0" i="0" dirty="0" err="1">
                <a:solidFill>
                  <a:srgbClr val="AEB9D4"/>
                </a:solidFill>
                <a:latin typeface="Microsoft YaHei"/>
              </a:rPr>
              <a:t>由对应岗位资深员工</a:t>
            </a:r>
            <a:r>
              <a:rPr sz="1450" b="0" i="0" dirty="0">
                <a:solidFill>
                  <a:srgbClr val="AEB9D4"/>
                </a:solidFill>
                <a:latin typeface="Microsoft YaHei"/>
              </a:rPr>
              <a:t>
</a:t>
            </a:r>
            <a:r>
              <a:rPr sz="1450" b="0" i="0" dirty="0" err="1">
                <a:solidFill>
                  <a:srgbClr val="AEB9D4"/>
                </a:solidFill>
                <a:latin typeface="Microsoft YaHei"/>
              </a:rPr>
              <a:t>审核</a:t>
            </a:r>
            <a:r>
              <a:rPr lang="en-US" sz="1450" b="0" i="0" dirty="0">
                <a:solidFill>
                  <a:srgbClr val="AEB9D4"/>
                </a:solidFill>
                <a:latin typeface="Microsoft YaHei"/>
              </a:rPr>
              <a:t> </a:t>
            </a:r>
            <a:r>
              <a:rPr sz="1450" b="0" i="0" dirty="0">
                <a:solidFill>
                  <a:srgbClr val="AEB9D4"/>
                </a:solidFill>
                <a:latin typeface="Microsoft YaHei"/>
              </a:rPr>
              <a:t>·</a:t>
            </a:r>
            <a:r>
              <a:rPr lang="en-US" sz="1450" b="0" i="0" dirty="0">
                <a:solidFill>
                  <a:srgbClr val="AEB9D4"/>
                </a:solidFill>
                <a:latin typeface="Microsoft YaHei"/>
              </a:rPr>
              <a:t> </a:t>
            </a:r>
            <a:r>
              <a:rPr sz="1450" b="0" i="0" dirty="0" err="1">
                <a:solidFill>
                  <a:srgbClr val="AEB9D4"/>
                </a:solidFill>
                <a:latin typeface="Microsoft YaHei"/>
              </a:rPr>
              <a:t>修改</a:t>
            </a:r>
            <a:r>
              <a:rPr lang="en-US" sz="1450" b="0" i="0" dirty="0">
                <a:solidFill>
                  <a:srgbClr val="AEB9D4"/>
                </a:solidFill>
                <a:latin typeface="Microsoft YaHei"/>
              </a:rPr>
              <a:t> </a:t>
            </a:r>
            <a:r>
              <a:rPr sz="1450" b="0" i="0" dirty="0">
                <a:solidFill>
                  <a:srgbClr val="AEB9D4"/>
                </a:solidFill>
                <a:latin typeface="Microsoft YaHei"/>
              </a:rPr>
              <a:t>·</a:t>
            </a:r>
            <a:r>
              <a:rPr lang="en-US" sz="1450" b="0" i="0" dirty="0">
                <a:solidFill>
                  <a:srgbClr val="AEB9D4"/>
                </a:solidFill>
                <a:latin typeface="Microsoft YaHei"/>
              </a:rPr>
              <a:t> </a:t>
            </a:r>
            <a:r>
              <a:rPr sz="1450" b="0" i="0" dirty="0" err="1">
                <a:solidFill>
                  <a:srgbClr val="AEB9D4"/>
                </a:solidFill>
                <a:latin typeface="Microsoft YaHei"/>
              </a:rPr>
              <a:t>确认</a:t>
            </a:r>
            <a:endParaRPr sz="1450" b="0" i="0" dirty="0">
              <a:solidFill>
                <a:srgbClr val="AEB9D4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04504" y="5166360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34D399"/>
                </a:solidFill>
                <a:latin typeface="Microsoft YaHei"/>
              </a:rPr>
              <a:t>✅ </a:t>
            </a:r>
            <a:r>
              <a:rPr sz="1400" b="1" i="0" dirty="0" err="1">
                <a:solidFill>
                  <a:srgbClr val="34D399"/>
                </a:solidFill>
                <a:latin typeface="Microsoft YaHei"/>
              </a:rPr>
              <a:t>全链路把关·可治理</a:t>
            </a:r>
            <a:r>
              <a:rPr lang="en-US" altLang="zh-CN" sz="14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4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可追溯</a:t>
            </a:r>
            <a:r>
              <a:rPr lang="en-US" altLang="zh-CN" sz="14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4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可规模</a:t>
            </a:r>
            <a:endParaRPr sz="1400" b="1" dirty="0">
              <a:solidFill>
                <a:srgbClr val="34D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AI 提速 · 资深员工把关 · 平台兜底 —— 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企业级 AI 研发该有的样子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6032"/>
            <a:ext cx="1316736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给企业的价值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研发角色升维，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交付能力翻倍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651760" cy="201168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265176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EF2FB"/>
                </a:solidFill>
                <a:latin typeface="Microsoft YaHei"/>
              </a:rPr>
              <a:t>不裁员，而是升维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资深员工从「埋头干活」变成「审核把关」，一个人盯住的交付量翻倍。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48840"/>
            <a:ext cx="2651760" cy="201168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148840"/>
            <a:ext cx="265176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EF2FB"/>
                </a:solidFill>
                <a:latin typeface="Microsoft YaHei"/>
              </a:rPr>
              <a:t>能力可复制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7180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不再依赖稀缺的 FDE 天才，把专家的判断力沉淀进平台流程。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2651760" cy="201168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148840"/>
            <a:ext cx="265176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EF2FB"/>
                </a:solidFill>
                <a:latin typeface="Microsoft YaHei"/>
              </a:rPr>
              <a:t>质量可治理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7180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每个节点谁确认、改了什么全程可追溯，AI 开发第一次有「责任链」。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148840"/>
            <a:ext cx="2651760" cy="201168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2148840"/>
            <a:ext cx="2651760" cy="381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EF2FB"/>
                </a:solidFill>
                <a:latin typeface="Microsoft YaHei"/>
              </a:rPr>
              <a:t>规模化交付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97180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AEB9D4"/>
                </a:solidFill>
                <a:latin typeface="Microsoft YaHei"/>
              </a:rPr>
              <a:t>从「一个牛人交付一个项目」，到「一个团队用平台交付一批项目」。</a:t>
            </a:r>
          </a:p>
        </p:txBody>
      </p:sp>
      <p:pic>
        <p:nvPicPr>
          <p:cNvPr id="24" name="Picture 23" descr="04-session-detail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34840"/>
            <a:ext cx="7132320" cy="4183162"/>
          </a:xfrm>
          <a:prstGeom prst="rect">
            <a:avLst/>
          </a:prstGeom>
        </p:spPr>
      </p:pic>
      <p:pic>
        <p:nvPicPr>
          <p:cNvPr id="25" name="Picture 24" descr="05-requirement-clar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4434840"/>
            <a:ext cx="3566160" cy="2426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7410"/>
            <a:ext cx="2340864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战略底座 · 企业级准入门槛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 dirty="0" err="1">
                <a:solidFill>
                  <a:srgbClr val="EEF2FB"/>
                </a:solidFill>
                <a:latin typeface="Microsoft YaHei"/>
              </a:rPr>
              <a:t>会话</a:t>
            </a:r>
            <a:r>
              <a:rPr lang="zh-CN" altLang="en-US" sz="3400" b="1" i="0" dirty="0">
                <a:solidFill>
                  <a:srgbClr val="EEF2F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</a:t>
            </a:r>
            <a:r>
              <a:rPr sz="3400" b="1" i="0" dirty="0" err="1">
                <a:solidFill>
                  <a:srgbClr val="EEF2FB"/>
                </a:solidFill>
                <a:latin typeface="Microsoft YaHei"/>
              </a:rPr>
              <a:t>治理</a:t>
            </a:r>
            <a:r>
              <a:rPr sz="3400" b="1" i="0" dirty="0">
                <a:solidFill>
                  <a:srgbClr val="EEF2FB"/>
                </a:solidFill>
                <a:latin typeface="Microsoft YaHei"/>
              </a:rPr>
              <a:t> + </a:t>
            </a:r>
            <a:r>
              <a:rPr sz="3400" b="1" i="0" dirty="0">
                <a:solidFill>
                  <a:srgbClr val="4F7CFF"/>
                </a:solidFill>
                <a:latin typeface="Microsoft YaHei"/>
              </a:rPr>
              <a:t>Harness CI/CD </a:t>
            </a:r>
            <a:r>
              <a:rPr sz="3400" b="1" i="0" dirty="0" err="1">
                <a:solidFill>
                  <a:srgbClr val="4F7CFF"/>
                </a:solidFill>
                <a:latin typeface="Microsoft YaHei"/>
              </a:rPr>
              <a:t>无缝对接</a:t>
            </a:r>
            <a:endParaRPr sz="3400" b="1" i="0" dirty="0">
              <a:solidFill>
                <a:srgbClr val="4F7CFF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4846320" cy="36576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484632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2976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EEF2FB"/>
                </a:solidFill>
                <a:latin typeface="Microsoft YaHei"/>
              </a:rPr>
              <a:t>🛡️ AI </a:t>
            </a:r>
            <a:r>
              <a:rPr sz="1900" b="1" i="0" dirty="0" err="1">
                <a:solidFill>
                  <a:srgbClr val="EEF2FB"/>
                </a:solidFill>
                <a:latin typeface="Microsoft YaHei"/>
              </a:rPr>
              <a:t>会话工作区治理</a:t>
            </a:r>
            <a:endParaRPr sz="1200" b="1" i="0" dirty="0">
              <a:solidFill>
                <a:srgbClr val="FBBF24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297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每个会话完整上下文可审计、可回放、可归档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高风险能力强制人工二次确认，不可绕过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会话内文件权限管控，防敏感信息外泄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能力使用成本计量，生成 AI 合规报告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4D399"/>
                </a:solidFill>
                <a:latin typeface="Microsoft YaHei"/>
              </a:rPr>
              <a:t>让平台能进金融 / 医疗 / 政府采购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56616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7C5CFF"/>
                </a:solidFill>
                <a:latin typeface="Microsoft YaHei"/>
              </a:rP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2062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双向闭环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103120"/>
            <a:ext cx="4846320" cy="3657600"/>
          </a:xfrm>
          <a:prstGeom prst="roundRect">
            <a:avLst/>
          </a:prstGeom>
          <a:solidFill>
            <a:srgbClr val="10162B"/>
          </a:solidFill>
          <a:ln w="12700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20840" y="2103120"/>
            <a:ext cx="484632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2331720"/>
            <a:ext cx="42976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EEF2FB"/>
                </a:solidFill>
                <a:latin typeface="Microsoft YaHei"/>
              </a:rPr>
              <a:t>🔗 Harness CI/CD </a:t>
            </a:r>
            <a:r>
              <a:rPr sz="1900" b="1" i="0" dirty="0" err="1">
                <a:solidFill>
                  <a:srgbClr val="EEF2FB"/>
                </a:solidFill>
                <a:latin typeface="Microsoft YaHei"/>
              </a:rPr>
              <a:t>对接</a:t>
            </a:r>
            <a:r>
              <a:rPr sz="1900" b="1" i="0" dirty="0">
                <a:solidFill>
                  <a:srgbClr val="EEF2FB"/>
                </a:solidFill>
                <a:latin typeface="Microsoft YaHei"/>
              </a:rPr>
              <a:t>  </a:t>
            </a:r>
            <a:r>
              <a:rPr lang="zh-CN" altLang="en-US" sz="12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即将闭环</a:t>
            </a:r>
            <a:endParaRPr sz="1200" b="1" i="0" dirty="0">
              <a:solidFill>
                <a:srgbClr val="FBBF24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95160" y="3017520"/>
            <a:ext cx="42976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企业无需替换现有 DevOps 工具链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代码提交 → Pipeline → AI 测试闸门自动触发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构建产物直接生成平台交付制品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 i="0">
                <a:solidFill>
                  <a:srgbClr val="AEB9D4"/>
                </a:solidFill>
                <a:latin typeface="Microsoft YaHei"/>
              </a:rPr>
              <a:t>✓ 缺陷自动回流 Harness，形成双向闭环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2120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2D3EE"/>
                </a:solidFill>
                <a:latin typeface="Microsoft YaHei"/>
              </a:rPr>
              <a:t>借道 Harness 客户群，直通北美分发渠道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 err="1">
                <a:solidFill>
                  <a:srgbClr val="AEB9D4"/>
                </a:solidFill>
                <a:latin typeface="Microsoft YaHei"/>
              </a:rPr>
              <a:t>治理让</a:t>
            </a:r>
            <a:r>
              <a:rPr sz="1700" b="1" i="0" dirty="0">
                <a:solidFill>
                  <a:srgbClr val="AEB9D4"/>
                </a:solidFill>
                <a:latin typeface="Microsoft YaHei"/>
              </a:rPr>
              <a:t> AI </a:t>
            </a:r>
            <a:r>
              <a:rPr sz="1700" b="1" i="0" dirty="0" err="1">
                <a:solidFill>
                  <a:srgbClr val="AEB9D4"/>
                </a:solidFill>
                <a:latin typeface="Microsoft YaHei"/>
              </a:rPr>
              <a:t>研发</a:t>
            </a:r>
            <a:r>
              <a:rPr sz="1700" b="1" i="0" dirty="0" err="1">
                <a:solidFill>
                  <a:srgbClr val="34D399"/>
                </a:solidFill>
                <a:latin typeface="Microsoft YaHei"/>
              </a:rPr>
              <a:t>敢进企业</a:t>
            </a:r>
            <a:r>
              <a:rPr sz="1700" b="1" i="0" dirty="0" err="1">
                <a:solidFill>
                  <a:srgbClr val="AEB9D4"/>
                </a:solidFill>
                <a:latin typeface="Microsoft YaHei"/>
              </a:rPr>
              <a:t>，Harness</a:t>
            </a:r>
            <a:r>
              <a:rPr sz="1700" b="1" i="0" dirty="0">
                <a:solidFill>
                  <a:srgbClr val="AEB9D4"/>
                </a:solidFill>
                <a:latin typeface="Microsoft YaHei"/>
              </a:rPr>
              <a:t> </a:t>
            </a:r>
            <a:r>
              <a:rPr sz="1700" b="1" i="0" dirty="0" err="1">
                <a:solidFill>
                  <a:srgbClr val="AEB9D4"/>
                </a:solidFill>
                <a:latin typeface="Microsoft YaHei"/>
              </a:rPr>
              <a:t>让它</a:t>
            </a:r>
            <a:r>
              <a:rPr sz="1700" b="1" i="0" dirty="0" err="1">
                <a:solidFill>
                  <a:srgbClr val="22D3EE"/>
                </a:solidFill>
                <a:latin typeface="Microsoft YaHei"/>
              </a:rPr>
              <a:t>无缝</a:t>
            </a:r>
            <a:r>
              <a:rPr lang="zh-CN" altLang="en-US" sz="1700" b="1" i="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sz="1700" b="1" i="0" dirty="0" err="1">
                <a:solidFill>
                  <a:srgbClr val="22D3EE"/>
                </a:solidFill>
                <a:latin typeface="Microsoft YaHei"/>
              </a:rPr>
              <a:t>接入现有流水线</a:t>
            </a:r>
            <a:r>
              <a:rPr sz="1700" b="1" i="0" dirty="0">
                <a:solidFill>
                  <a:srgbClr val="22D3EE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56032"/>
            <a:ext cx="3236976" cy="384048"/>
          </a:xfrm>
          <a:prstGeom prst="roundRect">
            <a:avLst/>
          </a:prstGeom>
          <a:solidFill>
            <a:srgbClr val="161D38"/>
          </a:solidFill>
          <a:ln w="9525"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200" b="1" i="0">
                <a:solidFill>
                  <a:srgbClr val="C3CFF0"/>
                </a:solidFill>
                <a:latin typeface="Microsoft YaHei"/>
              </a:rPr>
              <a:t>REAL PRODUCT · 真实产品界面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EF2FB"/>
                </a:solidFill>
                <a:latin typeface="Microsoft YaHei"/>
              </a:rPr>
              <a:t>不是渲染图，是</a:t>
            </a:r>
            <a:r>
              <a:rPr sz="3400" b="1" i="0">
                <a:solidFill>
                  <a:srgbClr val="4F7CFF"/>
                </a:solidFill>
                <a:latin typeface="Microsoft YaHei"/>
              </a:rPr>
              <a:t>平台真实工作界面</a:t>
            </a:r>
          </a:p>
        </p:txBody>
      </p:sp>
      <p:pic>
        <p:nvPicPr>
          <p:cNvPr id="9" name="Picture 8" descr="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65960"/>
            <a:ext cx="3886200" cy="2279287"/>
          </a:xfrm>
          <a:prstGeom prst="rect">
            <a:avLst/>
          </a:prstGeom>
        </p:spPr>
      </p:pic>
      <p:pic>
        <p:nvPicPr>
          <p:cNvPr id="10" name="Picture 9" descr="ui-gover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5314"/>
            <a:ext cx="3886200" cy="2279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3CFF0"/>
                </a:solidFill>
                <a:latin typeface="Microsoft YaHei"/>
              </a:rPr>
              <a:t>AI 会话中枢 · 全链路 Skill 自动串联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EB9D4"/>
                </a:solidFill>
                <a:latin typeface="Microsoft YaHei"/>
              </a:rPr>
              <a:t>自动串联 · 真实可运行 · </a:t>
            </a:r>
            <a:r>
              <a:rPr sz="1700" b="1" i="0">
                <a:solidFill>
                  <a:srgbClr val="22D3EE"/>
                </a:solidFill>
                <a:latin typeface="Microsoft YaHei"/>
              </a:rPr>
              <a:t>可审计治理。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2971A9A-8B4B-4536-9BDE-6C2451C6B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56" y="1965960"/>
            <a:ext cx="6782844" cy="3978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13 / 14</a:t>
            </a:r>
          </a:p>
        </p:txBody>
      </p:sp>
      <p:sp>
        <p:nvSpPr>
          <p:cNvPr id="6" name="Oval 5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AEB9D4"/>
                </a:solidFill>
                <a:latin typeface="Microsoft YaHei"/>
              </a:rPr>
              <a:t>现场 DEMO · 不是流程图，是真的跑得通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EEF2FB"/>
                </a:solidFill>
                <a:latin typeface="Microsoft YaHei"/>
              </a:rPr>
              <a:t>不是秒出黑盒，</a:t>
            </a:r>
            <a:r>
              <a:rPr sz="3400" b="1" i="0">
                <a:solidFill>
                  <a:srgbClr val="22D3EE"/>
                </a:solidFill>
                <a:latin typeface="Microsoft YaHei"/>
              </a:rPr>
              <a:t>而是每一步都可见、可确认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1892807" cy="50292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① 输入一句话需求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7" y="4480560"/>
            <a:ext cx="2249424" cy="50292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② 选「一句话生成应用」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2391" y="4480560"/>
            <a:ext cx="2011680" cy="50292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③ 看链路逐阶段执行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1" y="4480560"/>
            <a:ext cx="1773936" cy="50292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④ 每步产物沉淀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3767" y="4480560"/>
            <a:ext cx="1773936" cy="502920"/>
          </a:xfrm>
          <a:prstGeom prst="roundRect">
            <a:avLst/>
          </a:prstGeom>
          <a:solidFill>
            <a:srgbClr val="10162B"/>
          </a:solidFill>
          <a:ln>
            <a:solidFill>
              <a:srgbClr val="222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C3CFF0"/>
                </a:solidFill>
                <a:latin typeface="Microsoft YaHei"/>
              </a:rPr>
              <a:t>⑤ 打开产品预览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AEB9D4"/>
                </a:solidFill>
                <a:latin typeface="Microsoft YaHei"/>
              </a:rPr>
              <a:t>「需求逐条确认 · 逻辑基于基线 · 代码基于测试 —— 每一步你都能看到、能介入。」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" y="256032"/>
            <a:ext cx="384048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EF2FB"/>
                </a:solidFill>
                <a:latin typeface="Microsoft YaHei"/>
              </a:rPr>
              <a:t>BearAI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7D8AB0"/>
                </a:solidFill>
                <a:latin typeface="Microsoft YaHei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EEF2FB"/>
                </a:solidFill>
                <a:latin typeface="Microsoft YaHei"/>
              </a:rPr>
              <a:t>让 AI 写的代码，</a:t>
            </a:r>
            <a:r>
              <a:rPr sz="4400" b="1" i="0">
                <a:solidFill>
                  <a:srgbClr val="22D3EE"/>
                </a:solidFill>
                <a:latin typeface="Microsoft YaHei"/>
              </a:rPr>
              <a:t>敢上生产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AEB9D4"/>
                </a:solidFill>
                <a:latin typeface="Microsoft YaHei"/>
              </a:rPr>
              <a:t>扫码交流 · 加入社群 · 体验平台</a:t>
            </a:r>
          </a:p>
        </p:txBody>
      </p:sp>
      <p:pic>
        <p:nvPicPr>
          <p:cNvPr id="8" name="Picture 7" descr="qr-we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7" y="2834640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72487" y="4937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EF2FB"/>
                </a:solidFill>
                <a:latin typeface="Microsoft YaHei"/>
              </a:rPr>
              <a:t>创始人微信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487" y="5303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7D8AB0"/>
                </a:solidFill>
                <a:latin typeface="Microsoft YaHei"/>
              </a:rPr>
              <a:t>加我一对一交流</a:t>
            </a:r>
          </a:p>
        </p:txBody>
      </p:sp>
      <p:pic>
        <p:nvPicPr>
          <p:cNvPr id="11" name="Picture 10" descr="qr-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7" y="2834640"/>
            <a:ext cx="201168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15687" y="4937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EF2FB"/>
                </a:solidFill>
                <a:latin typeface="Microsoft YaHei"/>
              </a:rPr>
              <a:t>AI 开发工作平台交流群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687" y="5303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7D8AB0"/>
                </a:solidFill>
                <a:latin typeface="Microsoft YaHei"/>
              </a:rPr>
              <a:t>扫码加入产品社群</a:t>
            </a:r>
          </a:p>
        </p:txBody>
      </p:sp>
      <p:pic>
        <p:nvPicPr>
          <p:cNvPr id="14" name="Picture 13" descr="qr-web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207" y="2834640"/>
            <a:ext cx="201168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8887" y="49377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EF2FB"/>
                </a:solidFill>
                <a:latin typeface="Microsoft YaHei"/>
              </a:rPr>
              <a:t>BearAI 官网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8887" y="5303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7D8AB0"/>
                </a:solidFill>
                <a:latin typeface="Microsoft YaHei"/>
              </a:rPr>
              <a:t>扫码了解更多 · 在线体验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Microsoft YaHei"/>
              </a:rPr>
              <a:t>▶ 演示环境：http://47.239.120.204:42380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821</Words>
  <Application>Microsoft Office PowerPoint</Application>
  <PresentationFormat>宽屏</PresentationFormat>
  <Paragraphs>214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绍文 冯</cp:lastModifiedBy>
  <cp:revision>12</cp:revision>
  <dcterms:created xsi:type="dcterms:W3CDTF">2013-01-27T09:14:16Z</dcterms:created>
  <dcterms:modified xsi:type="dcterms:W3CDTF">2026-07-04T16:18:08Z</dcterms:modified>
  <cp:category/>
</cp:coreProperties>
</file>